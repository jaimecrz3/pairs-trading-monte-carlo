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9224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80" kern="0" dirty="0">
                <a:solidFill>
                  <a:srgbClr val="7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NUMERICAL METHODS IN FINANCE · PROJECT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966960" y="6492240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B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Jaime Corzo Galdó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B84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B84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Pairs Trading: KO vs PEP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584"/>
                </a:solidFill>
              </a:rPr>
              <a:t>Historical evidence → model choice → 1,000,000-path Monte Carlo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703320" cy="4956048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8890">
            <a:solidFill>
              <a:srgbClr val="DCE1E6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4447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28C28"/>
                </a:solidFill>
              </a:rPr>
              <a:t>TRADE SETUP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68096" y="1938528"/>
            <a:ext cx="384048" cy="0"/>
          </a:xfrm>
          <a:prstGeom prst="line">
            <a:avLst/>
          </a:prstGeom>
          <a:noFill/>
          <a:ln w="50800">
            <a:solidFill>
              <a:srgbClr val="2E7D5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261872" y="179222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5B"/>
                </a:solidFill>
              </a:rPr>
              <a:t>LONG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61872" y="1993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$100k PEP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768096" y="2724912"/>
            <a:ext cx="384048" cy="0"/>
          </a:xfrm>
          <a:prstGeom prst="line">
            <a:avLst/>
          </a:prstGeom>
          <a:noFill/>
          <a:ln w="50800">
            <a:solidFill>
              <a:srgbClr val="B24C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1872" y="25786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24C4C"/>
                </a:solidFill>
              </a:rPr>
              <a:t>SHORT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61872" y="277977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$100k KO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768096" y="3511296"/>
            <a:ext cx="384048" cy="0"/>
          </a:xfrm>
          <a:prstGeom prst="line">
            <a:avLst/>
          </a:prstGeom>
          <a:noFill/>
          <a:ln w="50800">
            <a:solidFill>
              <a:srgbClr val="3C7D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1872" y="33649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7D86"/>
                </a:solidFill>
              </a:rPr>
              <a:t>CASH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61872" y="35661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$100k @ 5%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49808" y="4251960"/>
            <a:ext cx="3200400" cy="0"/>
          </a:xfrm>
          <a:prstGeom prst="line">
            <a:avLst/>
          </a:prstGeom>
          <a:noFill/>
          <a:ln w="12700">
            <a:solidFill>
              <a:srgbClr val="DCE1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462272"/>
            <a:ext cx="3072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313D"/>
                </a:solidFill>
              </a:rPr>
              <a:t>Entry: </a:t>
            </a:r>
            <a:pPr indent="0" marL="0">
              <a:buNone/>
            </a:pPr>
            <a:r>
              <a:rPr lang="en-US" sz="1300" dirty="0">
                <a:solidFill>
                  <a:srgbClr val="25313D"/>
                </a:solidFill>
              </a:rPr>
              <a:t>Oct 9, 2026 close
</a:t>
            </a:r>
            <a:pPr indent="0" marL="0">
              <a:buNone/>
            </a:pPr>
            <a:r>
              <a:rPr lang="en-US" sz="1300" b="1" dirty="0">
                <a:solidFill>
                  <a:srgbClr val="25313D"/>
                </a:solidFill>
              </a:rPr>
              <a:t>Forecast horizon: </a:t>
            </a:r>
            <a:pPr indent="0" marL="0">
              <a:buNone/>
            </a:pPr>
            <a:r>
              <a:rPr lang="en-US" sz="1300" dirty="0">
                <a:solidFill>
                  <a:srgbClr val="25313D"/>
                </a:solidFill>
              </a:rPr>
              <a:t>60 trading days
</a:t>
            </a:r>
            <a:pPr indent="0" marL="0">
              <a:buNone/>
            </a:pPr>
            <a:r>
              <a:rPr lang="en-US" sz="1300" b="1" dirty="0">
                <a:solidFill>
                  <a:srgbClr val="25313D"/>
                </a:solidFill>
              </a:rPr>
              <a:t>Simulation: </a:t>
            </a:r>
            <a:pPr indent="0" marL="0">
              <a:buNone/>
            </a:pPr>
            <a:r>
              <a:rPr lang="en-US" sz="1300" dirty="0">
                <a:solidFill>
                  <a:srgbClr val="25313D"/>
                </a:solidFill>
              </a:rPr>
              <a:t>1,000,000 paths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" y="5513832"/>
            <a:ext cx="3035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687584"/>
                </a:solidFill>
              </a:rPr>
              <a:t>The assignment mentions Oct 12 elsewhere; I use Oct 9 consistently to answer the specific valuation question.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462272" y="1207008"/>
            <a:ext cx="7223760" cy="4956048"/>
          </a:xfrm>
          <a:prstGeom prst="roundRect">
            <a:avLst>
              <a:gd name="adj" fmla="val 1107"/>
            </a:avLst>
          </a:prstGeom>
          <a:solidFill>
            <a:srgbClr val="FFFFFF"/>
          </a:solidFill>
          <a:ln w="8890">
            <a:solidFill>
              <a:srgbClr val="DCE1E6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18304" y="14447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F28C28"/>
                </a:solidFill>
              </a:rPr>
              <a:t>WHY THE CORRELATED RANDOM WALK IS THE BASELINE</a:t>
            </a:r>
            <a:endParaRPr lang="en-US" sz="1000" dirty="0"/>
          </a:p>
        </p:txBody>
      </p:sp>
      <p:pic>
        <p:nvPicPr>
          <p:cNvPr id="20" name="Image 0" descr="/mnt/data/deck_assets/rolling_co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2144055"/>
            <a:ext cx="3154680" cy="1244009"/>
          </a:xfrm>
          <a:prstGeom prst="rect">
            <a:avLst/>
          </a:prstGeom>
        </p:spPr>
      </p:pic>
      <p:pic>
        <p:nvPicPr>
          <p:cNvPr id="21" name="Image 1" descr="/mnt/data/deck_assets/log_rat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2144055"/>
            <a:ext cx="3154680" cy="1244009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4754880" y="4041648"/>
            <a:ext cx="1874520" cy="749808"/>
          </a:xfrm>
          <a:prstGeom prst="roundRect">
            <a:avLst>
              <a:gd name="adj" fmla="val 4878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864608" y="4151376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C7D86"/>
                </a:solidFill>
              </a:rPr>
              <a:t>ρ = 0.677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4828032" y="4471416"/>
            <a:ext cx="17282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687584"/>
                </a:solidFill>
              </a:rPr>
              <a:t>5-year KO–PEP return correlation</a:t>
            </a:r>
            <a:endParaRPr lang="en-US" sz="870" dirty="0"/>
          </a:p>
        </p:txBody>
      </p:sp>
      <p:sp>
        <p:nvSpPr>
          <p:cNvPr id="25" name="Shape 21"/>
          <p:cNvSpPr/>
          <p:nvPr/>
        </p:nvSpPr>
        <p:spPr>
          <a:xfrm>
            <a:off x="6839712" y="4041648"/>
            <a:ext cx="1874520" cy="749808"/>
          </a:xfrm>
          <a:prstGeom prst="roundRect">
            <a:avLst>
              <a:gd name="adj" fmla="val 4878"/>
            </a:avLst>
          </a:prstGeom>
          <a:solidFill>
            <a:srgbClr val="EEF1F4"/>
          </a:solidFill>
          <a:ln w="12700">
            <a:solidFill>
              <a:srgbClr val="EEF1F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949440" y="4151376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≈ 0</a:t>
            </a:r>
            <a:endParaRPr lang="en-US" sz="1800" dirty="0"/>
          </a:p>
        </p:txBody>
      </p:sp>
      <p:sp>
        <p:nvSpPr>
          <p:cNvPr id="27" name="Text 23"/>
          <p:cNvSpPr/>
          <p:nvPr/>
        </p:nvSpPr>
        <p:spPr>
          <a:xfrm>
            <a:off x="6912864" y="4471416"/>
            <a:ext cx="17282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687584"/>
                </a:solidFill>
              </a:rPr>
              <a:t>lag-1 return autocorrelation</a:t>
            </a:r>
            <a:endParaRPr lang="en-US" sz="870" dirty="0"/>
          </a:p>
        </p:txBody>
      </p:sp>
      <p:sp>
        <p:nvSpPr>
          <p:cNvPr id="28" name="Shape 24"/>
          <p:cNvSpPr/>
          <p:nvPr/>
        </p:nvSpPr>
        <p:spPr>
          <a:xfrm>
            <a:off x="8924544" y="4041648"/>
            <a:ext cx="1874520" cy="749808"/>
          </a:xfrm>
          <a:prstGeom prst="roundRect">
            <a:avLst>
              <a:gd name="adj" fmla="val 4878"/>
            </a:avLst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034272" y="4151376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8C28"/>
                </a:solidFill>
              </a:rPr>
              <a:t>p = 0.995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8997696" y="4471416"/>
            <a:ext cx="17282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687584"/>
                </a:solidFill>
              </a:rPr>
              <a:t>ADF test on log price ratio</a:t>
            </a:r>
            <a:endParaRPr lang="en-US" sz="870" dirty="0"/>
          </a:p>
        </p:txBody>
      </p:sp>
      <p:sp>
        <p:nvSpPr>
          <p:cNvPr id="31" name="Shape 27"/>
          <p:cNvSpPr/>
          <p:nvPr/>
        </p:nvSpPr>
        <p:spPr>
          <a:xfrm>
            <a:off x="4754880" y="5093208"/>
            <a:ext cx="6035040" cy="694944"/>
          </a:xfrm>
          <a:prstGeom prst="roundRect">
            <a:avLst>
              <a:gd name="adj" fmla="val 526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983480" y="5294376"/>
            <a:ext cx="5559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</a:rPr>
              <a:t>Correlation is strongly supported; stationarity around a fixed mean is not.</a:t>
            </a:r>
            <a:endParaRPr lang="en-US" sz="1520" dirty="0"/>
          </a:p>
        </p:txBody>
      </p:sp>
      <p:sp>
        <p:nvSpPr>
          <p:cNvPr id="33" name="Text 29"/>
          <p:cNvSpPr/>
          <p:nvPr/>
        </p:nvSpPr>
        <p:spPr>
          <a:xfrm>
            <a:off x="4773168" y="5879592"/>
            <a:ext cx="5980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87584"/>
                </a:solidFill>
              </a:rPr>
              <a:t>Baseline: correlated log-return random walk via Cholesky.  Local OU is kept as an alternative scenario.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B84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Monte Carlo result: correlation mainly changes the risk band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584"/>
                </a:solidFill>
              </a:rPr>
              <a:t>Baseline model · correlated random walk · 1,000,000 daily paths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7543800" cy="5001768"/>
          </a:xfrm>
          <a:prstGeom prst="roundRect">
            <a:avLst>
              <a:gd name="adj" fmla="val 1097"/>
            </a:avLst>
          </a:prstGeom>
          <a:solidFill>
            <a:srgbClr val="FFFFFF"/>
          </a:solidFill>
          <a:ln w="8890">
            <a:solidFill>
              <a:srgbClr val="DCE1E6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4173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90" kern="0" dirty="0">
                <a:solidFill>
                  <a:srgbClr val="F28C28"/>
                </a:solidFill>
              </a:rPr>
              <a:t>PAIR P&amp;L OVER 60 TRADING DAYS</a:t>
            </a:r>
            <a:endParaRPr lang="en-US" sz="1000" dirty="0"/>
          </a:p>
        </p:txBody>
      </p:sp>
      <p:pic>
        <p:nvPicPr>
          <p:cNvPr id="6" name="Image 0" descr="/mnt/data/image(20261012-145326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04651"/>
            <a:ext cx="7114032" cy="40887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5833872"/>
            <a:ext cx="6355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i="1" dirty="0">
                <a:solidFill>
                  <a:srgbClr val="687584"/>
                </a:solidFill>
              </a:rPr>
              <a:t>Only 100 paths are shown for readability; mean and percentiles use all 1,000,000 simulations.</a:t>
            </a:r>
            <a:endParaRPr lang="en-US" sz="870" dirty="0"/>
          </a:p>
        </p:txBody>
      </p:sp>
      <p:sp>
        <p:nvSpPr>
          <p:cNvPr id="8" name="Shape 5"/>
          <p:cNvSpPr/>
          <p:nvPr/>
        </p:nvSpPr>
        <p:spPr>
          <a:xfrm>
            <a:off x="8275320" y="1188720"/>
            <a:ext cx="3410712" cy="5001768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8890">
            <a:solidFill>
              <a:srgbClr val="DCE1E6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22208" y="14173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90" kern="0" dirty="0">
                <a:solidFill>
                  <a:srgbClr val="F28C28"/>
                </a:solidFill>
              </a:rPr>
              <a:t>OCT 16 VALUATION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522208" y="17190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687584"/>
                </a:solidFill>
              </a:rPr>
              <a:t>Total P&amp;L including cash interest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8503920" y="2075688"/>
            <a:ext cx="2926080" cy="749808"/>
          </a:xfrm>
          <a:prstGeom prst="roundRect">
            <a:avLst>
              <a:gd name="adj" fmla="val 4878"/>
            </a:avLst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13648" y="2185416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24C4C"/>
                </a:solidFill>
              </a:rPr>
              <a:t>−$158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577072" y="2505456"/>
            <a:ext cx="2779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687584"/>
                </a:solidFill>
              </a:rPr>
              <a:t>Expected total P&amp;L</a:t>
            </a:r>
            <a:endParaRPr lang="en-US" sz="870" dirty="0"/>
          </a:p>
        </p:txBody>
      </p:sp>
      <p:sp>
        <p:nvSpPr>
          <p:cNvPr id="14" name="Shape 11"/>
          <p:cNvSpPr/>
          <p:nvPr/>
        </p:nvSpPr>
        <p:spPr>
          <a:xfrm>
            <a:off x="8503920" y="2999232"/>
            <a:ext cx="2926080" cy="749808"/>
          </a:xfrm>
          <a:prstGeom prst="roundRect">
            <a:avLst>
              <a:gd name="adj" fmla="val 4878"/>
            </a:avLst>
          </a:prstGeom>
          <a:solidFill>
            <a:srgbClr val="FAEEEE"/>
          </a:solidFill>
          <a:ln w="12700">
            <a:solidFill>
              <a:srgbClr val="FAEE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13648" y="3108960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24C4C"/>
                </a:solidFill>
              </a:rPr>
              <a:t>−$3.50k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577072" y="3429000"/>
            <a:ext cx="2779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687584"/>
                </a:solidFill>
              </a:rPr>
              <a:t>5th percentile total P&amp;L</a:t>
            </a:r>
            <a:endParaRPr lang="en-US" sz="870" dirty="0"/>
          </a:p>
        </p:txBody>
      </p:sp>
      <p:sp>
        <p:nvSpPr>
          <p:cNvPr id="17" name="Shape 14"/>
          <p:cNvSpPr/>
          <p:nvPr/>
        </p:nvSpPr>
        <p:spPr>
          <a:xfrm>
            <a:off x="8503920" y="3922776"/>
            <a:ext cx="2926080" cy="749808"/>
          </a:xfrm>
          <a:prstGeom prst="roundRect">
            <a:avLst>
              <a:gd name="adj" fmla="val 4878"/>
            </a:avLst>
          </a:prstGeom>
          <a:solidFill>
            <a:srgbClr val="EDF7F2"/>
          </a:solidFill>
          <a:ln w="12700">
            <a:solidFill>
              <a:srgbClr val="EDF7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13648" y="4032504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5B"/>
                </a:solidFill>
              </a:rPr>
              <a:t>+$3.21k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577072" y="4352544"/>
            <a:ext cx="2779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687584"/>
                </a:solidFill>
              </a:rPr>
              <a:t>95th percentile total P&amp;L</a:t>
            </a:r>
            <a:endParaRPr lang="en-US" sz="870" dirty="0"/>
          </a:p>
        </p:txBody>
      </p:sp>
      <p:sp>
        <p:nvSpPr>
          <p:cNvPr id="20" name="Shape 17"/>
          <p:cNvSpPr/>
          <p:nvPr/>
        </p:nvSpPr>
        <p:spPr>
          <a:xfrm>
            <a:off x="8549640" y="4956048"/>
            <a:ext cx="2816352" cy="0"/>
          </a:xfrm>
          <a:prstGeom prst="line">
            <a:avLst/>
          </a:prstGeom>
          <a:noFill/>
          <a:ln w="12700">
            <a:solidFill>
              <a:srgbClr val="DCE1E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49640" y="517550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87584"/>
                </a:solidFill>
              </a:rPr>
              <a:t>60-day pair P&amp;L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549640" y="54041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324D"/>
                </a:solidFill>
              </a:rPr>
              <a:t>Expected: −$3.12k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8549640" y="565099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25313D"/>
                </a:solidFill>
              </a:rPr>
              <a:t>P5 / P95: −$14.8k / +$8.8k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8503920" y="5916168"/>
            <a:ext cx="2926080" cy="338328"/>
          </a:xfrm>
          <a:prstGeom prst="roundRect">
            <a:avLst>
              <a:gd name="adj" fmla="val 8108"/>
            </a:avLst>
          </a:prstGeom>
          <a:solidFill>
            <a:srgbClr val="EAF2F6"/>
          </a:solidFill>
          <a:ln w="12700">
            <a:solidFill>
              <a:srgbClr val="EAF2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22792" y="6007608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3C7D86"/>
                </a:solidFill>
              </a:rPr>
              <a:t>Positive correlation narrows the relative-return distribution.</a:t>
            </a:r>
            <a:endParaRPr lang="en-US" sz="8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B84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Entry / exit rule and the key model-risk 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589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87584"/>
                </a:solidFill>
              </a:rPr>
              <a:t>The trade has a relative-value signal, but profitability depends on the mean-reversion assumption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6675120" cy="3803904"/>
          </a:xfrm>
          <a:prstGeom prst="roundRect">
            <a:avLst>
              <a:gd name="adj" fmla="val 1442"/>
            </a:avLst>
          </a:prstGeom>
          <a:solidFill>
            <a:srgbClr val="FFFFFF"/>
          </a:solidFill>
          <a:ln w="8890">
            <a:solidFill>
              <a:srgbClr val="DCE1E6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4173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90" kern="0" dirty="0">
                <a:solidFill>
                  <a:srgbClr val="F28C28"/>
                </a:solidFill>
              </a:rPr>
              <a:t>252-DAY RELATIVE-VALUE SIGNAL</a:t>
            </a:r>
            <a:endParaRPr lang="en-US" sz="1000" dirty="0"/>
          </a:p>
        </p:txBody>
      </p:sp>
      <p:pic>
        <p:nvPicPr>
          <p:cNvPr id="6" name="Image 0" descr="/mnt/data/deck_assets/zs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42286"/>
            <a:ext cx="6172200" cy="243393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06640" y="1188720"/>
            <a:ext cx="4279392" cy="3803904"/>
          </a:xfrm>
          <a:prstGeom prst="roundRect">
            <a:avLst>
              <a:gd name="adj" fmla="val 1442"/>
            </a:avLst>
          </a:prstGeom>
          <a:solidFill>
            <a:srgbClr val="FFFFFF"/>
          </a:solidFill>
          <a:ln w="8890">
            <a:solidFill>
              <a:srgbClr val="DCE1E6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62672" y="14173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90" kern="0" dirty="0">
                <a:solidFill>
                  <a:srgbClr val="F28C28"/>
                </a:solidFill>
              </a:rPr>
              <a:t>TRADING RULE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680960" y="18105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D5B"/>
                </a:solidFill>
              </a:rPr>
              <a:t>ENTRY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680960" y="202996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z ≤ −2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8979408" y="20939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E7D5B"/>
                </a:solidFill>
              </a:rPr>
              <a:t>Observed z = −2.20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7680960" y="2487168"/>
            <a:ext cx="3520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25313D"/>
                </a:solidFill>
              </a:rPr>
              <a:t>Adjusted PEP/KO threshold: 1.465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313D"/>
                </a:solidFill>
              </a:rPr>
              <a:t>Actual quoted ratio: 1.431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313D"/>
                </a:solidFill>
              </a:rPr>
              <a:t>Equivalent entry differential: $40.95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313D"/>
                </a:solidFill>
              </a:rPr>
              <a:t>Actual differential: $37.92</a:t>
            </a:r>
            <a:endParaRPr lang="en-US" sz="1060" dirty="0"/>
          </a:p>
        </p:txBody>
      </p:sp>
      <p:sp>
        <p:nvSpPr>
          <p:cNvPr id="13" name="Shape 10"/>
          <p:cNvSpPr/>
          <p:nvPr/>
        </p:nvSpPr>
        <p:spPr>
          <a:xfrm>
            <a:off x="7680960" y="3529584"/>
            <a:ext cx="3456432" cy="0"/>
          </a:xfrm>
          <a:prstGeom prst="line">
            <a:avLst/>
          </a:prstGeom>
          <a:noFill/>
          <a:ln w="12700">
            <a:solidFill>
              <a:srgbClr val="DCE1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0" y="37124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C7D86"/>
                </a:solidFill>
              </a:rPr>
              <a:t>EXIT TARGET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680960" y="392277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</a:rPr>
              <a:t>z = 0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8979408" y="3831336"/>
            <a:ext cx="2121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25313D"/>
                </a:solidFill>
              </a:rPr>
              <a:t>Adjusted PEP/KO target: 1.868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313D"/>
                </a:solidFill>
              </a:rPr>
              <a:t>Equivalent differential: $76.42*</a:t>
            </a:r>
            <a:endParaRPr lang="en-US" sz="1060" dirty="0"/>
          </a:p>
        </p:txBody>
      </p:sp>
      <p:sp>
        <p:nvSpPr>
          <p:cNvPr id="17" name="Text 14"/>
          <p:cNvSpPr/>
          <p:nvPr/>
        </p:nvSpPr>
        <p:spPr>
          <a:xfrm>
            <a:off x="7680960" y="447141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687584"/>
                </a:solidFill>
              </a:rPr>
              <a:t>*Conditional on KO remaining at $88.05.</a:t>
            </a:r>
            <a:endParaRPr lang="en-US" sz="830" dirty="0"/>
          </a:p>
        </p:txBody>
      </p:sp>
      <p:sp>
        <p:nvSpPr>
          <p:cNvPr id="18" name="Shape 15"/>
          <p:cNvSpPr/>
          <p:nvPr/>
        </p:nvSpPr>
        <p:spPr>
          <a:xfrm>
            <a:off x="502920" y="5212080"/>
            <a:ext cx="11183112" cy="1033272"/>
          </a:xfrm>
          <a:prstGeom prst="roundRect">
            <a:avLst>
              <a:gd name="adj" fmla="val 5310"/>
            </a:avLst>
          </a:prstGeom>
          <a:solidFill>
            <a:srgbClr val="17324D"/>
          </a:solidFill>
          <a:ln w="8890">
            <a:solidFill>
              <a:srgbClr val="DCE1E6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68096" y="54681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C7D4DF"/>
                </a:solidFill>
              </a:rPr>
              <a:t>60-DAY EXPECTED PAIR P&amp;L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2834640" y="538581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4DF"/>
                </a:solidFill>
              </a:rPr>
              <a:t>Correlated RW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788920" y="56327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B5A7"/>
                </a:solidFill>
              </a:rPr>
              <a:t>−$3.12k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4526280" y="53858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4DF"/>
                </a:solidFill>
              </a:rPr>
              <a:t>Local OU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389120" y="56327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A8E2C3"/>
                </a:solidFill>
              </a:rPr>
              <a:t>+$7.24k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5925312" y="5413248"/>
            <a:ext cx="0" cy="585216"/>
          </a:xfrm>
          <a:prstGeom prst="line">
            <a:avLst/>
          </a:prstGeom>
          <a:noFill/>
          <a:ln w="12700">
            <a:solidFill>
              <a:srgbClr val="5A6E8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17920" y="541324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OU half-life ≈ 150 trading days  ·  ADF p = 0.995</a:t>
            </a:r>
            <a:endParaRPr lang="en-US" sz="1080" dirty="0"/>
          </a:p>
        </p:txBody>
      </p:sp>
      <p:sp>
        <p:nvSpPr>
          <p:cNvPr id="26" name="Text 23"/>
          <p:cNvSpPr/>
          <p:nvPr/>
        </p:nvSpPr>
        <p:spPr>
          <a:xfrm>
            <a:off x="6217920" y="5650992"/>
            <a:ext cx="4910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90" dirty="0">
                <a:solidFill>
                  <a:srgbClr val="E7EDF2"/>
                </a:solidFill>
              </a:rPr>
              <a:t>Mean reversion makes the trade look attractive, but it is the least-supported assumption.  →  Keep the correlated RW as the forecast; treat OU as a scenario.</a:t>
            </a:r>
            <a:endParaRPr lang="en-US" sz="9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9184" y="6473952"/>
            <a:ext cx="164592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7B849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MMF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Pairs Trading: KO and PEP</dc:title>
  <dc:subject>Numerical Methods in Finance - Project 1</dc:subject>
  <dc:creator>Jaime Corzo Galdó</dc:creator>
  <cp:lastModifiedBy>Jaime Corzo Galdó</cp:lastModifiedBy>
  <cp:revision>1</cp:revision>
  <dcterms:created xsi:type="dcterms:W3CDTF">2026-10-12T16:33:11Z</dcterms:created>
  <dcterms:modified xsi:type="dcterms:W3CDTF">2026-10-12T16:33:11Z</dcterms:modified>
</cp:coreProperties>
</file>